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59" r:id="rId6"/>
    <p:sldId id="260" r:id="rId7"/>
    <p:sldId id="270" r:id="rId8"/>
    <p:sldId id="271" r:id="rId9"/>
    <p:sldId id="261" r:id="rId10"/>
    <p:sldId id="262" r:id="rId11"/>
    <p:sldId id="263" r:id="rId12"/>
    <p:sldId id="273" r:id="rId13"/>
    <p:sldId id="264" r:id="rId14"/>
    <p:sldId id="265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1A3E-BD06-6F90-EB21-0A075E975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4EA0F-9508-5811-BEFD-ABCA7BA5A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ml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85197-6AD6-EC74-0555-C99C4F0B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43854-EF70-A1CD-6EAD-AC65FAF7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FD3D7-CD7B-9834-4A55-A92855D4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187260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F69A-B3A0-22F2-F02B-1D82D9367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13327-C1AD-606E-0836-AF8D15170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42906-909D-29C1-DC5F-8A310F48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3562F-C085-38C3-40EF-15810461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2C393-C662-8148-ACB3-25BEC1B1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187783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3BA45-7259-98F0-228A-24748AC1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2C491-B610-90D9-48F2-D37C6D859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044E0-5929-220C-03C3-F404E50E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87A5A-B325-88DD-D982-47086A07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FC36A-C9FE-C6CB-6B3B-1BBC7D7C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26032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D21E4-9296-29ED-C9FD-DA92DC3A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0683A-0B61-2D0B-3D68-1036484DC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28A81-1FA6-1D7A-EEB2-5489B7DD1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2B525-79EB-792B-91F0-4464F805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D7372-E909-DDB5-7ACE-190D556C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1680-FF71-7EA3-4A5B-2DB2DB08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354009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3F43B-4C4F-776A-061E-68F159A0E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B899C-72CB-B22F-E7C5-75F083D28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F1798-892F-F0F7-2857-898AD6CF2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2CDF4-5340-1558-539A-4D90365BFF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5FC2F-C664-45C8-8EBF-ED14C03A6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E43BB6-2D90-824C-8979-A1C40EFA6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2A55AD-2CC6-4D12-01F8-DCFBA7AF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E7D8-5C5E-8199-F254-E61399F6D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3614663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71DA-DD33-792A-113C-2CC5537FF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C60504-D533-6595-314E-992DA159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3B671-B7C1-C5F5-16AA-E6CC3EBA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0C2ED-F8F7-507F-81E1-A2AD95027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1164545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90C269-DFB5-9788-AF34-04C8FAD0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499C9-2357-FDF2-AFF7-39B079AE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26286-7AB4-5492-C757-EA6DF9B7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25931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4E54E-B568-28FF-714E-0EC7874B8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3170D-355D-ABDA-44E0-93A193673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C3B65-5604-E135-6A38-44397BB20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0B8A5-4BFC-8593-018A-FB7962BC7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AEBD5-D813-A26B-AE21-C95F2A80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0D483-D536-5492-A993-B0FEC2F37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53137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654A4-024E-16B3-B9D2-0F7262C1B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2E2B4-FBAE-124D-8BD8-045264B7B4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ml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F1865-17EF-4146-ADE2-01BB5A803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92131-5187-E785-2803-656DA85D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7D273D-57BB-9FEE-DA27-2DF87C775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DC79C-20D5-64E4-E463-688BB84F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185118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9519-BC57-8A50-8BBC-2187E2542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13259-6508-7FE9-E395-36A1C4D1C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7E4DE-FD6A-F691-2A91-F011155A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01BC4-76B6-5F4E-09BA-B97BF89AB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EC5D1-6767-7A0E-469E-B134C7333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114952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E1A971-ACC9-A5D7-3676-7D6EC46CC2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5A0262-0953-501C-8775-7B55CE0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722A9-6880-9405-9257-9772EA7E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EDCE3-19FE-174E-D7EE-A84F7A61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ml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431C-BBD7-08F9-B2DC-136FD4C2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174840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217B9A-271C-5473-BFF1-68F5B931C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ml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6FC00-D9D6-D6CB-A482-5BC727991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l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99090-AD62-9FF2-DC05-5A4FACAFFB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FCD68-5D99-4500-B3D2-D8AF9B881A7F}" type="datetimeFigureOut">
              <a:rPr lang="ml-IN" smtClean="0"/>
              <a:t>19/2/2026</a:t>
            </a:fld>
            <a:endParaRPr lang="ml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2D989-A472-7D32-F64B-3D598614E5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ml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5D82-00C4-2F54-949E-AED98246E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707FD1-1ED1-4134-8B8C-701511384F8A}" type="slidenum">
              <a:rPr lang="ml-IN" smtClean="0"/>
              <a:t>‹#›</a:t>
            </a:fld>
            <a:endParaRPr lang="ml-IN"/>
          </a:p>
        </p:txBody>
      </p:sp>
    </p:spTree>
    <p:extLst>
      <p:ext uri="{BB962C8B-B14F-4D97-AF65-F5344CB8AC3E}">
        <p14:creationId xmlns:p14="http://schemas.microsoft.com/office/powerpoint/2010/main" val="1796999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CB0A19F-B397-BE1E-9E56-0F40350025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7C6D6D-ED4B-126B-8011-BB51E4F8943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3142" y="979805"/>
            <a:ext cx="3602355" cy="61087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6D54980-78A0-E6D3-8B4A-C1DFB781BACA}"/>
              </a:ext>
            </a:extLst>
          </p:cNvPr>
          <p:cNvSpPr/>
          <p:nvPr/>
        </p:nvSpPr>
        <p:spPr>
          <a:xfrm>
            <a:off x="406400" y="2382520"/>
            <a:ext cx="8077200" cy="62992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marL="6350" indent="-6350"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BA2055"/>
                </a:solidFill>
                <a:effectLst/>
                <a:latin typeface="Courier New" panose="02070309020205020404" pitchFamily="49" charset="0"/>
                <a:ea typeface="Courier New" panose="02070309020205020404" pitchFamily="49" charset="0"/>
              </a:rPr>
              <a:t>21CSA697A – Minor Project</a:t>
            </a:r>
            <a:endParaRPr lang="en-IN" sz="1800" kern="1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Courier New" panose="02070309020205020404" pitchFamily="49" charset="0"/>
            </a:endParaRPr>
          </a:p>
          <a:p>
            <a:pPr marL="6350" indent="-6350">
              <a:lnSpc>
                <a:spcPct val="107000"/>
              </a:lnSpc>
              <a:spcAft>
                <a:spcPts val="800"/>
              </a:spcAft>
            </a:pPr>
            <a:endParaRPr lang="en-IN" sz="2800" kern="100" dirty="0">
              <a:solidFill>
                <a:srgbClr val="000000"/>
              </a:solidFill>
              <a:effectLst/>
              <a:latin typeface="Courier New" panose="02070309020205020404" pitchFamily="49" charset="0"/>
              <a:ea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0DAD3E-E0E1-B54A-A1CE-39EA1FB3E825}"/>
              </a:ext>
            </a:extLst>
          </p:cNvPr>
          <p:cNvSpPr txBox="1"/>
          <p:nvPr/>
        </p:nvSpPr>
        <p:spPr>
          <a:xfrm>
            <a:off x="406400" y="3522395"/>
            <a:ext cx="619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1" dirty="0">
                <a:solidFill>
                  <a:srgbClr val="A81C4B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DATE </a:t>
            </a:r>
            <a:r>
              <a:rPr lang="en-US" sz="3600" b="1" i="1" dirty="0">
                <a:solidFill>
                  <a:srgbClr val="A81C4B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 :</a:t>
            </a:r>
            <a:endParaRPr lang="ml-IN" sz="3600" dirty="0"/>
          </a:p>
        </p:txBody>
      </p:sp>
    </p:spTree>
    <p:extLst>
      <p:ext uri="{BB962C8B-B14F-4D97-AF65-F5344CB8AC3E}">
        <p14:creationId xmlns:p14="http://schemas.microsoft.com/office/powerpoint/2010/main" val="3469311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910081"/>
            <a:ext cx="104343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Predictive and Diagnostic Analytics Framework for Energy Consumption Using Time-Series and Machine Learning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Anna Wilson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kern="100" dirty="0">
                <a:effectLst/>
                <a:latin typeface="Courier New" panose="02070309020205020404" pitchFamily="49" charset="0"/>
                <a:ea typeface="Courier New" panose="02070309020205020404" pitchFamily="49" charset="0"/>
                <a:cs typeface="Courier New" panose="02070309020205020404" pitchFamily="49" charset="0"/>
              </a:rPr>
              <a:t>21CSA697A</a:t>
            </a:r>
            <a:endParaRPr lang="ml-IN" sz="2800" dirty="0">
              <a:latin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ml-IN" dirty="0"/>
          </a:p>
        </p:txBody>
      </p:sp>
    </p:spTree>
    <p:extLst>
      <p:ext uri="{BB962C8B-B14F-4D97-AF65-F5344CB8AC3E}">
        <p14:creationId xmlns:p14="http://schemas.microsoft.com/office/powerpoint/2010/main" val="1590441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696721"/>
            <a:ext cx="104343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IN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Introduction</a:t>
            </a:r>
          </a:p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1.1 Overview</a:t>
            </a:r>
          </a:p>
          <a:p>
            <a:pPr lvl="1" algn="just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Energy consumption forecasting plays a vital role in modern smart systems. Accurate prediction of electricity usage helps in cost optimization, load balancing, and energy efficiency planning. This project presents a web-based Energy Analytics Platform that performs advanced energy forecasting and explainable AI analysis.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1.2 Problem Statement</a:t>
            </a:r>
          </a:p>
          <a:p>
            <a:pPr lvl="1"/>
            <a:r>
              <a:rPr lang="en-US" sz="2000" dirty="0"/>
              <a:t>Manual energy monitoring is inefficient and does not provide predictive insights. There is a</a:t>
            </a:r>
          </a:p>
          <a:p>
            <a:pPr lvl="1"/>
            <a:r>
              <a:rPr lang="en-US" sz="2000" dirty="0"/>
              <a:t>need for an intelligent system that:</a:t>
            </a:r>
            <a:endParaRPr lang="en-US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ml-IN" sz="3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004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696721"/>
            <a:ext cx="1043432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/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1.3 Objectives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Develop ARIMA and LSTM forecasting models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Perform anomaly detection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Compare model performance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Implement SHAP and LIME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explainability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Build a professional dashboard interface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IN" sz="3600" dirty="0">
              <a:latin typeface="Courier New" panose="02070309020205020404" pitchFamily="49" charset="0"/>
            </a:endParaRPr>
          </a:p>
          <a:p>
            <a:endParaRPr lang="ml-IN" sz="36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41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696721"/>
            <a:ext cx="104343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2. </a:t>
            </a:r>
            <a:r>
              <a:rPr lang="en-IN" sz="3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Scopeof</a:t>
            </a:r>
            <a:r>
              <a:rPr lang="en-I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the Project</a:t>
            </a:r>
          </a:p>
          <a:p>
            <a:endParaRPr lang="en-I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Analyze historical household/smart meter energy data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Forecast short-term and long-term energy consumption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Perform seasonal decomposition (trend, seasonality, residuals)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Detect anomalies in power usage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Provide interactive dashboards and a web-based UI for users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Support peak load management and energy-saving decisions</a:t>
            </a:r>
            <a:endParaRPr lang="ml-IN" sz="2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1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696721"/>
            <a:ext cx="1043432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3. Literature Review / Existing 	System</a:t>
            </a:r>
          </a:p>
          <a:p>
            <a:endParaRPr lang="en-I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Energy forecasting techniques include statistical models like ARIMA and deep learning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models like LSTM. Recent research emphasizes explainable AI techniques such as SHAP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and LIME to improve transparency in machine learning systems.</a:t>
            </a:r>
          </a:p>
          <a:p>
            <a:endParaRPr lang="en-US" sz="2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254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696721"/>
            <a:ext cx="104343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4. Existing System</a:t>
            </a:r>
          </a:p>
          <a:p>
            <a:endParaRPr lang="en-I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● Manual monitoring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● No predictive modeling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● No anomaly detection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● No </a:t>
            </a:r>
            <a:r>
              <a:rPr lang="en-US" sz="2400" dirty="0" err="1">
                <a:latin typeface="Courier New" panose="02070309020205020404" pitchFamily="49" charset="0"/>
              </a:rPr>
              <a:t>explainability</a:t>
            </a:r>
            <a:endParaRPr lang="en-US" sz="2400" dirty="0">
              <a:latin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70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696721"/>
            <a:ext cx="104343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 5.Proposed System</a:t>
            </a:r>
          </a:p>
          <a:p>
            <a:endParaRPr lang="en-I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● AI-based forecasting</a:t>
            </a:r>
          </a:p>
          <a:p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● Automatic anomaly detection</a:t>
            </a:r>
          </a:p>
          <a:p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● Model comparison dashboard</a:t>
            </a:r>
          </a:p>
          <a:p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● Explainable AI module</a:t>
            </a:r>
          </a:p>
          <a:p>
            <a:r>
              <a:rPr lang="en-I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● Secure authentication system</a:t>
            </a:r>
            <a:endParaRPr lang="en-US" sz="24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494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696721"/>
            <a:ext cx="104343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6. System Architecture</a:t>
            </a:r>
          </a:p>
          <a:p>
            <a:endParaRPr lang="en-I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Dataset (CSV)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↓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Data Preprocessing (Pandas, NumPy)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-----------------------------------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| Forecasting Models 	|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| - ARIMA / SARIMA 	|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| - LSTM Neural Network |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-----------------------------------</a:t>
            </a:r>
          </a:p>
          <a:p>
            <a:endParaRPr lang="ml-IN" sz="20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822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696721"/>
            <a:ext cx="1043432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6. System Architecture (Contd.)</a:t>
            </a:r>
          </a:p>
          <a:p>
            <a:endParaRPr lang="en-IN" sz="2000" dirty="0">
              <a:latin typeface="Courier New" panose="02070309020205020404" pitchFamily="49" charset="0"/>
            </a:endParaRP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-----------------------------------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| Diagnostic Models 	   |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| - Seasonal Decomposition |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| - Isolation Forest 	   |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| - One-Class SVM 	   |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----------------------------------</a:t>
            </a:r>
          </a:p>
          <a:p>
            <a:endParaRPr lang="en-IN" sz="2000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endParaRPr lang="en-IN" sz="2000" dirty="0">
              <a:solidFill>
                <a:srgbClr val="00B050"/>
              </a:solidFill>
              <a:latin typeface="Courier New" panose="02070309020205020404" pitchFamily="49" charset="0"/>
            </a:endParaRP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Visualization (Matplotlib / </a:t>
            </a:r>
            <a:r>
              <a:rPr lang="en-IN" sz="2000" dirty="0" err="1">
                <a:solidFill>
                  <a:srgbClr val="00B050"/>
                </a:solidFill>
                <a:latin typeface="Courier New" panose="02070309020205020404" pitchFamily="49" charset="0"/>
              </a:rPr>
              <a:t>Plotly</a:t>
            </a:r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↓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Flask Backend (Python)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↓</a:t>
            </a:r>
          </a:p>
          <a:p>
            <a:r>
              <a:rPr lang="en-IN" sz="2000" dirty="0">
                <a:solidFill>
                  <a:srgbClr val="00B050"/>
                </a:solidFill>
                <a:latin typeface="Courier New" panose="02070309020205020404" pitchFamily="49" charset="0"/>
              </a:rPr>
              <a:t>Web UI (HTML + CSS + JavaScript)</a:t>
            </a:r>
            <a:endParaRPr lang="ml-IN" sz="2000" dirty="0">
              <a:solidFill>
                <a:srgbClr val="00B05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31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534161"/>
            <a:ext cx="104343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Courier New" panose="02070309020205020404" pitchFamily="49" charset="0"/>
                <a:cs typeface="Courier New" panose="02070309020205020404" pitchFamily="49" charset="0"/>
              </a:rPr>
              <a:t>7. Methodology</a:t>
            </a:r>
          </a:p>
          <a:p>
            <a:endParaRPr lang="en-IN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IN" sz="2400" dirty="0">
                <a:latin typeface="Courier New" panose="02070309020205020404" pitchFamily="49" charset="0"/>
              </a:rPr>
              <a:t>7.1 Data Preprocessing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Handle missing values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Convert Date + Time into datetime format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Resample data (hourly / daily)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Normalize or scale features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Merge weather data</a:t>
            </a: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48804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534161"/>
            <a:ext cx="104343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2400" dirty="0">
                <a:latin typeface="Courier New" panose="02070309020205020404" pitchFamily="49" charset="0"/>
              </a:rPr>
              <a:t>7.2 Time-Series Forecasting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ARIMA / SARIMA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</a:t>
            </a:r>
            <a:r>
              <a:rPr lang="en-US" sz="2000" dirty="0">
                <a:latin typeface="Courier New" panose="02070309020205020404" pitchFamily="49" charset="0"/>
              </a:rPr>
              <a:t>Suitable for linear and seasonal time-series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</a:t>
            </a:r>
            <a:r>
              <a:rPr lang="en-US" sz="2000" dirty="0">
                <a:latin typeface="Courier New" panose="02070309020205020404" pitchFamily="49" charset="0"/>
              </a:rPr>
              <a:t>SARIMA captures daily/weekly seasonality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Used for baseline forecasting</a:t>
            </a: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Output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● Future energy consumption predictions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● Confidence intervals</a:t>
            </a:r>
          </a:p>
          <a:p>
            <a:pPr lvl="2"/>
            <a:endParaRPr lang="en-US" sz="2400" dirty="0">
              <a:latin typeface="Courier New" panose="02070309020205020404" pitchFamily="49" charset="0"/>
            </a:endParaRPr>
          </a:p>
          <a:p>
            <a:pPr lvl="1"/>
            <a:r>
              <a:rPr lang="en-IN" sz="2400" dirty="0">
                <a:latin typeface="Courier New" panose="02070309020205020404" pitchFamily="49" charset="0"/>
              </a:rPr>
              <a:t>🔹 LSTM (Optional – Advanced)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Handles long-term dependencies</a:t>
            </a: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76307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62000" y="1534161"/>
            <a:ext cx="1043432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Suitable for complex nonlinear patterns</a:t>
            </a: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● Uses sliding window technique</a:t>
            </a: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400" dirty="0">
                <a:latin typeface="Courier New" panose="02070309020205020404" pitchFamily="49" charset="0"/>
              </a:rPr>
              <a:t>Tools</a:t>
            </a:r>
          </a:p>
          <a:p>
            <a:pPr lvl="3"/>
            <a:r>
              <a:rPr lang="en-IN" sz="2000" dirty="0">
                <a:latin typeface="Courier New" panose="02070309020205020404" pitchFamily="49" charset="0"/>
              </a:rPr>
              <a:t>● TensorFlow / </a:t>
            </a:r>
            <a:r>
              <a:rPr lang="en-IN" sz="2000" dirty="0" err="1">
                <a:latin typeface="Courier New" panose="02070309020205020404" pitchFamily="49" charset="0"/>
              </a:rPr>
              <a:t>Keras</a:t>
            </a:r>
            <a:endParaRPr lang="en-IN" sz="2000" dirty="0">
              <a:latin typeface="Courier New" panose="02070309020205020404" pitchFamily="49" charset="0"/>
            </a:endParaRP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1"/>
            <a:r>
              <a:rPr lang="en-IN" sz="2400" dirty="0">
                <a:latin typeface="Courier New" panose="02070309020205020404" pitchFamily="49" charset="0"/>
              </a:rPr>
              <a:t>7.3 Diagnostic Analytics</a:t>
            </a:r>
          </a:p>
          <a:p>
            <a:pPr lvl="1"/>
            <a:r>
              <a:rPr lang="en-IN" sz="2400" dirty="0">
                <a:latin typeface="Courier New" panose="02070309020205020404" pitchFamily="49" charset="0"/>
              </a:rPr>
              <a:t>🔹 </a:t>
            </a:r>
            <a:r>
              <a:rPr lang="en-IN" sz="2000" dirty="0">
                <a:latin typeface="Courier New" panose="02070309020205020404" pitchFamily="49" charset="0"/>
              </a:rPr>
              <a:t>Seasonal Decomposition</a:t>
            </a:r>
          </a:p>
          <a:p>
            <a:pPr lvl="3"/>
            <a:r>
              <a:rPr lang="en-IN" sz="2000" dirty="0">
                <a:latin typeface="Courier New" panose="02070309020205020404" pitchFamily="49" charset="0"/>
              </a:rPr>
              <a:t>● Separates:</a:t>
            </a:r>
          </a:p>
          <a:p>
            <a:pPr lvl="4"/>
            <a:r>
              <a:rPr lang="en-IN" sz="2000" dirty="0">
                <a:latin typeface="Courier New" panose="02070309020205020404" pitchFamily="49" charset="0"/>
              </a:rPr>
              <a:t>○ Trend</a:t>
            </a:r>
          </a:p>
          <a:p>
            <a:pPr lvl="4"/>
            <a:r>
              <a:rPr lang="en-IN" sz="2000" dirty="0">
                <a:latin typeface="Courier New" panose="02070309020205020404" pitchFamily="49" charset="0"/>
              </a:rPr>
              <a:t>○ Seasonality</a:t>
            </a:r>
          </a:p>
          <a:p>
            <a:pPr lvl="4"/>
            <a:r>
              <a:rPr lang="en-IN" sz="2000" dirty="0">
                <a:latin typeface="Courier New" panose="02070309020205020404" pitchFamily="49" charset="0"/>
              </a:rPr>
              <a:t>○ Residuals</a:t>
            </a:r>
          </a:p>
          <a:p>
            <a:pPr lvl="2"/>
            <a:r>
              <a:rPr lang="en-IN" sz="2400" dirty="0">
                <a:latin typeface="Courier New" panose="02070309020205020404" pitchFamily="49" charset="0"/>
              </a:rPr>
              <a:t>  ● Helps understand consumption </a:t>
            </a:r>
            <a:r>
              <a:rPr lang="en-IN" sz="2400" dirty="0" err="1">
                <a:latin typeface="Courier New" panose="02070309020205020404" pitchFamily="49" charset="0"/>
              </a:rPr>
              <a:t>behavior</a:t>
            </a:r>
            <a:endParaRPr lang="en-IN" sz="2400" dirty="0">
              <a:latin typeface="Courier New" panose="02070309020205020404" pitchFamily="49" charset="0"/>
            </a:endParaRPr>
          </a:p>
          <a:p>
            <a:r>
              <a:rPr lang="en-IN" sz="2400" dirty="0">
                <a:latin typeface="Courier New" panose="02070309020205020404" pitchFamily="49" charset="0"/>
              </a:rPr>
              <a:t>  </a:t>
            </a: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26942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72160" y="1534161"/>
            <a:ext cx="10434320" cy="6924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</a:rPr>
              <a:t>Models Used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● Isolation Forest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● One-Class SVM</a:t>
            </a: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r>
              <a:rPr lang="en-IN" sz="2400" dirty="0">
                <a:latin typeface="Courier New" panose="02070309020205020404" pitchFamily="49" charset="0"/>
              </a:rPr>
              <a:t>Detected Anomalies</a:t>
            </a:r>
          </a:p>
          <a:p>
            <a:pPr lvl="2"/>
            <a:r>
              <a:rPr lang="en-IN" sz="2400" dirty="0">
                <a:latin typeface="Courier New" panose="02070309020205020404" pitchFamily="49" charset="0"/>
              </a:rPr>
              <a:t>● Sudden spikes in power usage</a:t>
            </a:r>
          </a:p>
          <a:p>
            <a:pPr lvl="2"/>
            <a:r>
              <a:rPr lang="en-IN" sz="2400" dirty="0">
                <a:latin typeface="Courier New" panose="02070309020205020404" pitchFamily="49" charset="0"/>
              </a:rPr>
              <a:t>● Abnormal voltage </a:t>
            </a:r>
            <a:r>
              <a:rPr lang="en-IN" sz="2400" dirty="0" err="1">
                <a:latin typeface="Courier New" panose="02070309020205020404" pitchFamily="49" charset="0"/>
              </a:rPr>
              <a:t>behavior</a:t>
            </a:r>
            <a:endParaRPr lang="en-IN" sz="2400" dirty="0">
              <a:latin typeface="Courier New" panose="02070309020205020404" pitchFamily="49" charset="0"/>
            </a:endParaRPr>
          </a:p>
          <a:p>
            <a:pPr lvl="2"/>
            <a:r>
              <a:rPr lang="en-IN" sz="2400" dirty="0">
                <a:latin typeface="Courier New" panose="02070309020205020404" pitchFamily="49" charset="0"/>
              </a:rPr>
              <a:t>● Unexpected night-time consumption</a:t>
            </a:r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7.4 Machine Learning (Optional Extension)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Random Forest / Gradient Boosting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Predict power usage using: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</a:rPr>
              <a:t>○ Weather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</a:rPr>
              <a:t>○ Time features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</a:rPr>
              <a:t>○ Past consumption</a:t>
            </a: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IN" sz="2000" dirty="0">
              <a:latin typeface="Courier New" panose="02070309020205020404" pitchFamily="49" charset="0"/>
            </a:endParaRPr>
          </a:p>
          <a:p>
            <a:pPr lvl="3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22366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72160" y="1534161"/>
            <a:ext cx="10434320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Courier New" panose="02070309020205020404" pitchFamily="49" charset="0"/>
              </a:rPr>
              <a:t>8. Implementation Details</a:t>
            </a:r>
          </a:p>
          <a:p>
            <a:pPr lvl="1"/>
            <a:endParaRPr lang="en-US" sz="2400" dirty="0">
              <a:latin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</a:rPr>
              <a:t>8.1 Data Preprocessing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● Handling missing values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● </a:t>
            </a:r>
            <a:r>
              <a:rPr lang="en-US" sz="2000" dirty="0" err="1">
                <a:latin typeface="Courier New" panose="02070309020205020404" pitchFamily="49" charset="0"/>
              </a:rPr>
              <a:t>DateTime</a:t>
            </a:r>
            <a:r>
              <a:rPr lang="en-US" sz="2000" dirty="0">
                <a:latin typeface="Courier New" panose="02070309020205020404" pitchFamily="49" charset="0"/>
              </a:rPr>
              <a:t> conversion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● Daily resampling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● Train/Test split (80/20)</a:t>
            </a:r>
          </a:p>
          <a:p>
            <a:endParaRPr lang="en-US" sz="2400" dirty="0">
              <a:latin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8.2 Forecasting Models</a:t>
            </a:r>
          </a:p>
          <a:p>
            <a:pPr lvl="1"/>
            <a:endParaRPr lang="en-US" sz="2400" dirty="0">
              <a:latin typeface="Courier New" panose="02070309020205020404" pitchFamily="49" charset="0"/>
            </a:endParaRPr>
          </a:p>
          <a:p>
            <a:pPr lvl="1"/>
            <a:r>
              <a:rPr lang="en-US" sz="2000" b="1" dirty="0">
                <a:latin typeface="Courier New" panose="02070309020205020404" pitchFamily="49" charset="0"/>
              </a:rPr>
              <a:t>ARIMA Model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	Used for statistical time-series forecasting.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</a:rPr>
              <a:t>LSTM Model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	Deep learning model for sequential data.</a:t>
            </a: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IN" sz="2000" dirty="0">
              <a:latin typeface="Courier New" panose="02070309020205020404" pitchFamily="49" charset="0"/>
            </a:endParaRPr>
          </a:p>
          <a:p>
            <a:pPr lvl="3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514156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72160" y="1534161"/>
            <a:ext cx="104343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 dirty="0">
              <a:latin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</a:rPr>
              <a:t> 8.3 Evaluation Metrics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   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   ● RMSE (Root Mean Squared Error)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   ● MAE (Mean Absolute Error)</a:t>
            </a:r>
          </a:p>
          <a:p>
            <a:endParaRPr lang="en-US" sz="2000" dirty="0">
              <a:latin typeface="Courier New" panose="02070309020205020404" pitchFamily="49" charset="0"/>
            </a:endParaRPr>
          </a:p>
          <a:p>
            <a:endParaRPr lang="en-US" sz="2000" dirty="0">
              <a:latin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8.4 Forecasting Models</a:t>
            </a:r>
          </a:p>
          <a:p>
            <a:pPr lvl="1"/>
            <a:endParaRPr lang="en-US" sz="2400" dirty="0">
              <a:latin typeface="Courier New" panose="02070309020205020404" pitchFamily="49" charset="0"/>
            </a:endParaRPr>
          </a:p>
          <a:p>
            <a:pPr lvl="1"/>
            <a:r>
              <a:rPr lang="en-US" sz="2000" b="1" dirty="0">
                <a:latin typeface="Courier New" panose="02070309020205020404" pitchFamily="49" charset="0"/>
              </a:rPr>
              <a:t>ARIMA Model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	Used for statistical time-series forecasting.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</a:rPr>
              <a:t>LSTM Model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	Deep learning model for sequential data.</a:t>
            </a: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IN" sz="2000" dirty="0">
              <a:latin typeface="Courier New" panose="02070309020205020404" pitchFamily="49" charset="0"/>
            </a:endParaRPr>
          </a:p>
          <a:p>
            <a:pPr lvl="3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3263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72160" y="1534161"/>
            <a:ext cx="1043432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lang="en-US" sz="2400" dirty="0">
              <a:latin typeface="Courier New" panose="02070309020205020404" pitchFamily="49" charset="0"/>
            </a:endParaRPr>
          </a:p>
          <a:p>
            <a:r>
              <a:rPr lang="en-US" sz="3600" b="1" dirty="0">
                <a:latin typeface="Courier New" panose="02070309020205020404" pitchFamily="49" charset="0"/>
              </a:rPr>
              <a:t> 9 . Dataset Description</a:t>
            </a:r>
          </a:p>
          <a:p>
            <a:r>
              <a:rPr lang="en-US" sz="3600" dirty="0">
                <a:latin typeface="Courier New" panose="02070309020205020404" pitchFamily="49" charset="0"/>
              </a:rPr>
              <a:t> </a:t>
            </a:r>
          </a:p>
          <a:p>
            <a:r>
              <a:rPr lang="en-US" sz="2000" dirty="0">
                <a:latin typeface="Courier New" panose="02070309020205020404" pitchFamily="49" charset="0"/>
              </a:rPr>
              <a:t>   </a:t>
            </a:r>
            <a:r>
              <a:rPr lang="en-US" sz="2000" b="1" dirty="0">
                <a:latin typeface="Courier New" panose="02070309020205020404" pitchFamily="49" charset="0"/>
              </a:rPr>
              <a:t>Source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Kaggle: Household Power Consumption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   OR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Smart Grid / Smart Meter datasets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Key Features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Date	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Active Power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Reactive Power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Voltage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	</a:t>
            </a: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IN" sz="2000" dirty="0">
              <a:latin typeface="Courier New" panose="02070309020205020404" pitchFamily="49" charset="0"/>
            </a:endParaRPr>
          </a:p>
          <a:p>
            <a:pPr lvl="3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64942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72160" y="1534161"/>
            <a:ext cx="10434320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sz="2000" dirty="0">
                <a:latin typeface="Courier New" panose="02070309020205020404" pitchFamily="49" charset="0"/>
              </a:rPr>
              <a:t>● Sub-metering (Kitchen, Laundry, HVAC, etc.)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Weather Attributes: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</a:rPr>
              <a:t>○ Temperature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</a:rPr>
              <a:t>○ Humidity</a:t>
            </a:r>
          </a:p>
          <a:p>
            <a:pPr lvl="3"/>
            <a:endParaRPr lang="en-US" sz="2000" dirty="0">
              <a:latin typeface="Courier New" panose="02070309020205020404" pitchFamily="49" charset="0"/>
            </a:endParaRPr>
          </a:p>
          <a:p>
            <a:pPr lvl="3"/>
            <a:endParaRPr lang="en-US" sz="2000" dirty="0">
              <a:latin typeface="Courier New" panose="02070309020205020404" pitchFamily="49" charset="0"/>
            </a:endParaRPr>
          </a:p>
          <a:p>
            <a:pPr lvl="1"/>
            <a:r>
              <a:rPr lang="en-US" sz="3600" dirty="0">
                <a:latin typeface="Courier New" panose="02070309020205020404" pitchFamily="49" charset="0"/>
              </a:rPr>
              <a:t>10.Web Application Implementation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	Backend – Flask (Python)</a:t>
            </a:r>
          </a:p>
          <a:p>
            <a:pPr lvl="1"/>
            <a:endParaRPr lang="en-US" sz="2400" dirty="0">
              <a:latin typeface="Courier New" panose="02070309020205020404" pitchFamily="49" charset="0"/>
            </a:endParaRPr>
          </a:p>
          <a:p>
            <a:pPr lvl="1"/>
            <a:r>
              <a:rPr lang="en-US" sz="2400" dirty="0">
                <a:latin typeface="Courier New" panose="02070309020205020404" pitchFamily="49" charset="0"/>
              </a:rPr>
              <a:t>   Responsibilities</a:t>
            </a:r>
          </a:p>
          <a:p>
            <a:pPr lvl="3"/>
            <a:r>
              <a:rPr lang="en-US" sz="2400" dirty="0">
                <a:latin typeface="Courier New" panose="02070309020205020404" pitchFamily="49" charset="0"/>
              </a:rPr>
              <a:t>● Load trained models</a:t>
            </a:r>
          </a:p>
          <a:p>
            <a:pPr lvl="3"/>
            <a:r>
              <a:rPr lang="en-US" sz="2400" dirty="0">
                <a:latin typeface="Courier New" panose="02070309020205020404" pitchFamily="49" charset="0"/>
              </a:rPr>
              <a:t>● Accept user input (date range)</a:t>
            </a:r>
          </a:p>
          <a:p>
            <a:pPr lvl="3"/>
            <a:r>
              <a:rPr lang="en-US" sz="2400" dirty="0">
                <a:latin typeface="Courier New" panose="02070309020205020404" pitchFamily="49" charset="0"/>
              </a:rPr>
              <a:t>● Generate forecasts</a:t>
            </a:r>
          </a:p>
          <a:p>
            <a:pPr lvl="3"/>
            <a:r>
              <a:rPr lang="en-US" sz="2400" dirty="0">
                <a:latin typeface="Courier New" panose="02070309020205020404" pitchFamily="49" charset="0"/>
              </a:rPr>
              <a:t>● Return anomaly results</a:t>
            </a:r>
          </a:p>
          <a:p>
            <a:pPr lvl="1"/>
            <a:endParaRPr lang="en-US" sz="3600" dirty="0">
              <a:latin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</a:endParaRPr>
          </a:p>
          <a:p>
            <a:pPr lvl="1"/>
            <a:endParaRPr lang="en-IN" sz="2000" dirty="0">
              <a:latin typeface="Courier New" panose="02070309020205020404" pitchFamily="49" charset="0"/>
            </a:endParaRPr>
          </a:p>
          <a:p>
            <a:pPr lvl="3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8208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72160" y="1534161"/>
            <a:ext cx="1043432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3"/>
            <a:r>
              <a:rPr lang="en-US" sz="2400" dirty="0">
                <a:latin typeface="Courier New" panose="02070309020205020404" pitchFamily="49" charset="0"/>
              </a:rPr>
              <a:t>● Serve plots</a:t>
            </a:r>
          </a:p>
          <a:p>
            <a:pPr lvl="3"/>
            <a:endParaRPr lang="en-US" sz="3600" dirty="0">
              <a:latin typeface="Courier New" panose="02070309020205020404" pitchFamily="49" charset="0"/>
            </a:endParaRPr>
          </a:p>
          <a:p>
            <a:pPr lvl="1"/>
            <a:r>
              <a:rPr lang="en-US" sz="3600" dirty="0">
                <a:latin typeface="Courier New" panose="02070309020205020404" pitchFamily="49" charset="0"/>
              </a:rPr>
              <a:t>10.1Frontend – HTML, CSS,   			   JavaScript Pages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Home (Project overview)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Data Upload / Selection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Forecast Results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Anomaly Detection</a:t>
            </a: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● Visualization Dashboard</a:t>
            </a:r>
          </a:p>
          <a:p>
            <a:pPr lvl="2"/>
            <a:endParaRPr lang="en-US" sz="2000" dirty="0">
              <a:latin typeface="Courier New" panose="02070309020205020404" pitchFamily="49" charset="0"/>
            </a:endParaRPr>
          </a:p>
          <a:p>
            <a:pPr lvl="2"/>
            <a:r>
              <a:rPr lang="en-US" sz="2000" dirty="0">
                <a:latin typeface="Courier New" panose="02070309020205020404" pitchFamily="49" charset="0"/>
              </a:rPr>
              <a:t>Features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</a:rPr>
              <a:t>● Responsive UI</a:t>
            </a:r>
          </a:p>
          <a:p>
            <a:pPr lvl="3"/>
            <a:r>
              <a:rPr lang="en-US" sz="2000" dirty="0">
                <a:latin typeface="Courier New" panose="02070309020205020404" pitchFamily="49" charset="0"/>
              </a:rPr>
              <a:t>● Interactive charts</a:t>
            </a:r>
          </a:p>
          <a:p>
            <a:pPr lvl="1"/>
            <a:r>
              <a:rPr lang="en-IN" sz="2000" dirty="0"/>
              <a:t>	        </a:t>
            </a:r>
            <a:r>
              <a:rPr lang="en-I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● Clean energy-themed design 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IN" sz="2000" dirty="0">
              <a:latin typeface="Courier New" panose="02070309020205020404" pitchFamily="49" charset="0"/>
            </a:endParaRPr>
          </a:p>
          <a:p>
            <a:pPr lvl="3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26336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772160" y="1534161"/>
            <a:ext cx="1043432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sz="3600" dirty="0">
                <a:latin typeface="Courier New" panose="02070309020205020404" pitchFamily="49" charset="0"/>
              </a:rPr>
              <a:t>11. Tools &amp; Technologies</a:t>
            </a:r>
          </a:p>
          <a:p>
            <a:pPr lvl="1"/>
            <a:r>
              <a:rPr lang="en-IN" sz="2400" dirty="0">
                <a:latin typeface="Courier New" panose="02070309020205020404" pitchFamily="49" charset="0"/>
              </a:rPr>
              <a:t>Category Tools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Language		 Python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Data			 Pandas, NumPy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Processing</a:t>
            </a: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ML &amp; Stats 		Scikit-learn, </a:t>
            </a:r>
            <a:r>
              <a:rPr lang="en-IN" sz="2000" dirty="0" err="1">
                <a:latin typeface="Courier New" panose="02070309020205020404" pitchFamily="49" charset="0"/>
              </a:rPr>
              <a:t>Statsmodels</a:t>
            </a:r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Deep Learning 	TensorFlow, </a:t>
            </a:r>
            <a:r>
              <a:rPr lang="en-IN" sz="2000" dirty="0" err="1">
                <a:latin typeface="Courier New" panose="02070309020205020404" pitchFamily="49" charset="0"/>
              </a:rPr>
              <a:t>Keras</a:t>
            </a:r>
            <a:endParaRPr lang="en-IN" sz="2000" dirty="0">
              <a:latin typeface="Courier New" panose="02070309020205020404" pitchFamily="49" charset="0"/>
            </a:endParaRPr>
          </a:p>
          <a:p>
            <a:pPr lvl="2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Visualization 	Matplotlib, Seaborn, </a:t>
            </a:r>
            <a:r>
              <a:rPr lang="en-IN" sz="2000" dirty="0" err="1">
                <a:latin typeface="Courier New" panose="02070309020205020404" pitchFamily="49" charset="0"/>
              </a:rPr>
              <a:t>Plotly</a:t>
            </a:r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Backend 		Flask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Frontend 		HTML, CSS, JavaScript</a:t>
            </a: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Dashboard 		</a:t>
            </a:r>
            <a:r>
              <a:rPr lang="en-IN" sz="2000" dirty="0" err="1">
                <a:latin typeface="Courier New" panose="02070309020205020404" pitchFamily="49" charset="0"/>
              </a:rPr>
              <a:t>Streamlit</a:t>
            </a:r>
            <a:r>
              <a:rPr lang="en-IN" sz="2000" dirty="0">
                <a:latin typeface="Courier New" panose="02070309020205020404" pitchFamily="49" charset="0"/>
              </a:rPr>
              <a:t> / Tableau (optional)</a:t>
            </a:r>
          </a:p>
          <a:p>
            <a:pPr lvl="3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02721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74A265D-5060-2F4C-B727-393540A40F4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7862" y="431165"/>
            <a:ext cx="3602355" cy="61087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4540EC-256B-9A8D-39EB-E08F838A54C9}"/>
              </a:ext>
            </a:extLst>
          </p:cNvPr>
          <p:cNvSpPr txBox="1"/>
          <p:nvPr/>
        </p:nvSpPr>
        <p:spPr>
          <a:xfrm>
            <a:off x="416560" y="1361441"/>
            <a:ext cx="1043432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400" b="1" dirty="0">
                <a:latin typeface="Courier New" panose="02070309020205020404" pitchFamily="49" charset="0"/>
              </a:rPr>
              <a:t>Technology 			Purpose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Python			 Programming  language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</a:rPr>
              <a:t>Flask 			 Web framework</a:t>
            </a:r>
          </a:p>
          <a:p>
            <a:pPr lvl="1"/>
            <a:r>
              <a:rPr lang="en-IN" sz="2000" dirty="0">
                <a:latin typeface="Courier New" panose="02070309020205020404" pitchFamily="49" charset="0"/>
              </a:rPr>
              <a:t>Pandas 			 Data manipulation</a:t>
            </a:r>
          </a:p>
          <a:p>
            <a:pPr lvl="1"/>
            <a:r>
              <a:rPr lang="en-IN" sz="2000" dirty="0">
                <a:latin typeface="Courier New" panose="02070309020205020404" pitchFamily="49" charset="0"/>
              </a:rPr>
              <a:t>NumPy 			 Numerical operations</a:t>
            </a:r>
          </a:p>
          <a:p>
            <a:pPr lvl="1"/>
            <a:r>
              <a:rPr lang="en-IN" sz="2000" dirty="0">
                <a:latin typeface="Courier New" panose="02070309020205020404" pitchFamily="49" charset="0"/>
              </a:rPr>
              <a:t>Scikit-learn 		 ML algorithms</a:t>
            </a:r>
          </a:p>
          <a:p>
            <a:pPr lvl="1"/>
            <a:r>
              <a:rPr lang="en-IN" sz="2000" dirty="0">
                <a:latin typeface="Courier New" panose="02070309020205020404" pitchFamily="49" charset="0"/>
              </a:rPr>
              <a:t>TensorFlow/</a:t>
            </a:r>
            <a:r>
              <a:rPr lang="en-IN" sz="2000" dirty="0" err="1">
                <a:latin typeface="Courier New" panose="02070309020205020404" pitchFamily="49" charset="0"/>
              </a:rPr>
              <a:t>Keras</a:t>
            </a:r>
            <a:r>
              <a:rPr lang="en-IN" sz="2000" dirty="0">
                <a:latin typeface="Courier New" panose="02070309020205020404" pitchFamily="49" charset="0"/>
              </a:rPr>
              <a:t> 	 LSTM model</a:t>
            </a:r>
          </a:p>
          <a:p>
            <a:pPr lvl="1"/>
            <a:r>
              <a:rPr lang="en-IN" sz="2000" dirty="0" err="1">
                <a:latin typeface="Courier New" panose="02070309020205020404" pitchFamily="49" charset="0"/>
              </a:rPr>
              <a:t>Statsmodels</a:t>
            </a:r>
            <a:r>
              <a:rPr lang="en-IN" sz="2000" dirty="0">
                <a:latin typeface="Courier New" panose="02070309020205020404" pitchFamily="49" charset="0"/>
              </a:rPr>
              <a:t> 		 ARIMA model</a:t>
            </a:r>
          </a:p>
          <a:p>
            <a:pPr lvl="1"/>
            <a:r>
              <a:rPr lang="en-IN" sz="2000" dirty="0">
                <a:latin typeface="Courier New" panose="02070309020205020404" pitchFamily="49" charset="0"/>
              </a:rPr>
              <a:t>SHAP 			 </a:t>
            </a:r>
            <a:r>
              <a:rPr lang="en-IN" sz="2000" dirty="0" err="1">
                <a:latin typeface="Courier New" panose="02070309020205020404" pitchFamily="49" charset="0"/>
              </a:rPr>
              <a:t>Explainability</a:t>
            </a:r>
            <a:endParaRPr lang="en-IN" sz="2000" dirty="0">
              <a:latin typeface="Courier New" panose="02070309020205020404" pitchFamily="49" charset="0"/>
            </a:endParaRPr>
          </a:p>
          <a:p>
            <a:pPr lvl="1"/>
            <a:r>
              <a:rPr lang="en-IN" sz="2000" dirty="0">
                <a:latin typeface="Courier New" panose="02070309020205020404" pitchFamily="49" charset="0"/>
              </a:rPr>
              <a:t>LIME 			 Interpretability</a:t>
            </a:r>
          </a:p>
          <a:p>
            <a:pPr lvl="1"/>
            <a:r>
              <a:rPr lang="en-IN" sz="2000" dirty="0" err="1">
                <a:latin typeface="Courier New" panose="02070309020205020404" pitchFamily="49" charset="0"/>
              </a:rPr>
              <a:t>Plotly</a:t>
            </a:r>
            <a:r>
              <a:rPr lang="en-IN" sz="2000" dirty="0">
                <a:latin typeface="Courier New" panose="02070309020205020404" pitchFamily="49" charset="0"/>
              </a:rPr>
              <a:t> 			 Visualization</a:t>
            </a:r>
          </a:p>
          <a:p>
            <a:pPr lvl="1"/>
            <a:r>
              <a:rPr lang="en-IN" sz="2000" dirty="0">
                <a:latin typeface="Courier New" panose="02070309020205020404" pitchFamily="49" charset="0"/>
              </a:rPr>
              <a:t>SQLite 			 Database</a:t>
            </a:r>
          </a:p>
          <a:p>
            <a:pPr lvl="1"/>
            <a:endParaRPr lang="en-IN" sz="2000" dirty="0">
              <a:latin typeface="Courier New" panose="02070309020205020404" pitchFamily="49" charset="0"/>
            </a:endParaRPr>
          </a:p>
          <a:p>
            <a:pPr lvl="2"/>
            <a:r>
              <a:rPr lang="en-IN" sz="2000" dirty="0">
                <a:latin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29744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914</Words>
  <Application>Microsoft Office PowerPoint</Application>
  <PresentationFormat>Widescreen</PresentationFormat>
  <Paragraphs>270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Atheen Leo</dc:creator>
  <cp:lastModifiedBy>Atheen Leo</cp:lastModifiedBy>
  <cp:revision>2</cp:revision>
  <dcterms:created xsi:type="dcterms:W3CDTF">2026-02-19T13:34:27Z</dcterms:created>
  <dcterms:modified xsi:type="dcterms:W3CDTF">2026-02-19T18:49:31Z</dcterms:modified>
</cp:coreProperties>
</file>